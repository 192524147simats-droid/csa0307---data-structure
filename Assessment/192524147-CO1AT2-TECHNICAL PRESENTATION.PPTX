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8" r:id="rId1"/>
  </p:sldMasterIdLst>
  <p:sldIdLst>
    <p:sldId id="256" r:id="rId2"/>
    <p:sldId id="262" r:id="rId3"/>
    <p:sldId id="260" r:id="rId4"/>
    <p:sldId id="257" r:id="rId5"/>
    <p:sldId id="266" r:id="rId6"/>
    <p:sldId id="261" r:id="rId7"/>
    <p:sldId id="267" r:id="rId8"/>
    <p:sldId id="269" r:id="rId9"/>
    <p:sldId id="271" r:id="rId10"/>
    <p:sldId id="270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3D5C07-A512-407D-BF3A-1470488777FF}" v="25" dt="2026-03-12T14:17:33.178"/>
    <p1510:client id="{D7A5A0D5-C501-4FF7-9127-4CF4EF2B23C6}" v="14" dt="2026-03-12T17:41:56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79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52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493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26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38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4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46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1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83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15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64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9E5D2-5A90-4F66-B965-246F825B0AA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2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9" r:id="rId1"/>
    <p:sldLayoutId id="2147484180" r:id="rId2"/>
    <p:sldLayoutId id="2147484181" r:id="rId3"/>
    <p:sldLayoutId id="2147484182" r:id="rId4"/>
    <p:sldLayoutId id="2147484183" r:id="rId5"/>
    <p:sldLayoutId id="2147484184" r:id="rId6"/>
    <p:sldLayoutId id="2147484185" r:id="rId7"/>
    <p:sldLayoutId id="2147484186" r:id="rId8"/>
    <p:sldLayoutId id="2147484187" r:id="rId9"/>
    <p:sldLayoutId id="2147484188" r:id="rId10"/>
    <p:sldLayoutId id="21474841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1149" y="1775790"/>
            <a:ext cx="9700590" cy="156375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Graph-Based Disaster Evacuation Route Optimization for Real-Time Emergency Response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636103" y="3591339"/>
            <a:ext cx="10694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CSA0307 –DATA  STRUCTURE </a:t>
            </a:r>
          </a:p>
        </p:txBody>
      </p:sp>
      <p:sp>
        <p:nvSpPr>
          <p:cNvPr id="5" name="TextBox 4"/>
          <p:cNvSpPr txBox="1"/>
          <p:nvPr/>
        </p:nvSpPr>
        <p:spPr>
          <a:xfrm flipH="1">
            <a:off x="6824870" y="4850296"/>
            <a:ext cx="5181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PRESENETD BY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P. ROHINI(192524147)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HEMAKSHITHA(1922425088)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636103" y="4850296"/>
            <a:ext cx="38431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K. KIRUTHIKA</a:t>
            </a:r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2" y="703715"/>
            <a:ext cx="9405258" cy="835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7531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950909" cy="71561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04730" y="1692692"/>
            <a:ext cx="922351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Natural disasters create challenges in finding safe evacuation routes quickly.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collects inputs such as disaster type, number of people, and location.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analyzes road networks, shelters, hospitals, and police stations.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Graph algorithms like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Dijkstra's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Algorithm, Breadth-First Search, and Depth-First Search are used to determine efficient routes.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784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04801"/>
            <a:ext cx="9977414" cy="874642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64975" y="1275346"/>
            <a:ext cx="952831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disasters require fast and safe evacuation planning.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 inputs such as disaster type, number of people, and location.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analyzes road networks, shelters, hospitals, and police stations.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 algorithms like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Dijkstra's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Algorithm, Breadth-First Search, and Depth-First Search are used to find optimal routes.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safe evacuation routes and nearby shelters on a geographical map.</a:t>
            </a:r>
          </a:p>
        </p:txBody>
      </p:sp>
    </p:spTree>
    <p:extLst>
      <p:ext uri="{BB962C8B-B14F-4D97-AF65-F5344CB8AC3E}">
        <p14:creationId xmlns:p14="http://schemas.microsoft.com/office/powerpoint/2010/main" val="2870105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657" y="106017"/>
            <a:ext cx="10278640" cy="72887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617F181-B49A-C695-266F-2B0C1D9173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7069205"/>
              </p:ext>
            </p:extLst>
          </p:nvPr>
        </p:nvGraphicFramePr>
        <p:xfrm>
          <a:off x="838200" y="1033670"/>
          <a:ext cx="10686143" cy="533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417">
                  <a:extLst>
                    <a:ext uri="{9D8B030D-6E8A-4147-A177-3AD203B41FA5}">
                      <a16:colId xmlns:a16="http://schemas.microsoft.com/office/drawing/2014/main" val="3309826551"/>
                    </a:ext>
                  </a:extLst>
                </a:gridCol>
                <a:gridCol w="2448342">
                  <a:extLst>
                    <a:ext uri="{9D8B030D-6E8A-4147-A177-3AD203B41FA5}">
                      <a16:colId xmlns:a16="http://schemas.microsoft.com/office/drawing/2014/main" val="98601151"/>
                    </a:ext>
                  </a:extLst>
                </a:gridCol>
                <a:gridCol w="2063351">
                  <a:extLst>
                    <a:ext uri="{9D8B030D-6E8A-4147-A177-3AD203B41FA5}">
                      <a16:colId xmlns:a16="http://schemas.microsoft.com/office/drawing/2014/main" val="849795123"/>
                    </a:ext>
                  </a:extLst>
                </a:gridCol>
                <a:gridCol w="1917510">
                  <a:extLst>
                    <a:ext uri="{9D8B030D-6E8A-4147-A177-3AD203B41FA5}">
                      <a16:colId xmlns:a16="http://schemas.microsoft.com/office/drawing/2014/main" val="1071810141"/>
                    </a:ext>
                  </a:extLst>
                </a:gridCol>
                <a:gridCol w="1595490">
                  <a:extLst>
                    <a:ext uri="{9D8B030D-6E8A-4147-A177-3AD203B41FA5}">
                      <a16:colId xmlns:a16="http://schemas.microsoft.com/office/drawing/2014/main" val="2830494623"/>
                    </a:ext>
                  </a:extLst>
                </a:gridCol>
                <a:gridCol w="1922033">
                  <a:extLst>
                    <a:ext uri="{9D8B030D-6E8A-4147-A177-3AD203B41FA5}">
                      <a16:colId xmlns:a16="http://schemas.microsoft.com/office/drawing/2014/main" val="2330806029"/>
                    </a:ext>
                  </a:extLst>
                </a:gridCol>
              </a:tblGrid>
              <a:tr h="590880">
                <a:tc>
                  <a:txBody>
                    <a:bodyPr/>
                    <a:lstStyle/>
                    <a:p>
                      <a:r>
                        <a:rPr lang="en-IN" dirty="0" err="1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RESEARCH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TECHNOLOGIES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177115"/>
                  </a:ext>
                </a:extLst>
              </a:tr>
              <a:tr h="1036832">
                <a:tc>
                  <a:txBody>
                    <a:bodyPr/>
                    <a:lstStyle/>
                    <a:p>
                      <a:r>
                        <a:rPr lang="en-IN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on the Construction and Application of Earthquake Emergency Information Knowledge Graph...(2025)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Wentao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Zhou,Meng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Huang,Shuai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Liu,Qiao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You,Fanxin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information extraction and faster emergency decision support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scalability and requires large datasets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LLM, NLP, Bi-GAT, PCCA, Neo4j, 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168714"/>
                  </a:ext>
                </a:extLst>
              </a:tr>
              <a:tr h="1036832">
                <a:tc>
                  <a:txBody>
                    <a:bodyPr/>
                    <a:lstStyle/>
                    <a:p>
                      <a:r>
                        <a:rPr lang="en-IN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Twin City in Enhancing Flood Evacuation Systems-future Opportunities and challenges (2025)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Ary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setijadi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Prihatmanto,Abdurrakhman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prasetyadi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ambar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yoganingrum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Ridwan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Sutridan,Ana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Hadiana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prediction, improved evacuation planning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computation, data integration challenges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Twin, AI, IoT, GIS, 3D City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720487"/>
                  </a:ext>
                </a:extLst>
              </a:tr>
              <a:tr h="824630">
                <a:tc>
                  <a:txBody>
                    <a:bodyPr/>
                    <a:lstStyle/>
                    <a:p>
                      <a:r>
                        <a:rPr lang="en-IN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Directed Fuzzy Edge Graphs Under q-ROF Environment (2025)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Nazia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Nazir,tanzeela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Shaheen,wajid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ali,Md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Rafiul,Mohammad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mehedi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hassan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uncertainty and improves optimal path decision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complexity and requires fuzzy modeling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q-ROF Fuzzy Graphs, Hamacher Operator, Graph Algorithms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432297"/>
                  </a:ext>
                </a:extLst>
              </a:tr>
              <a:tr h="967930">
                <a:tc>
                  <a:txBody>
                    <a:bodyPr/>
                    <a:lstStyle/>
                    <a:p>
                      <a:r>
                        <a:rPr lang="en-IN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Machine Learning Approaches for Emergency Response and Coordination via Social Media in the Aftermath of a Disaster(2022)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lokabhiram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dwarakanath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rasheed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abubakar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rasheed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,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amirrudin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kamsin,anitha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anandhan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liyana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shuib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disaster detection, fast coordination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social media data, noisy information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Learning, Data Mining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805399"/>
                  </a:ext>
                </a:extLst>
              </a:tr>
              <a:tr h="790754">
                <a:tc>
                  <a:txBody>
                    <a:bodyPr/>
                    <a:lstStyle/>
                    <a:p>
                      <a:r>
                        <a:rPr lang="en-IN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Stochastic Hierarchical Multimodal Hub Location Problem for Cargo Delivery Systems(2022)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xiaoting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haifeng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selena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celic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weiqiao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wang,weiping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routing, handles uncertainty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MILP, Memetic Algorithm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402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4286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7008" y="1825625"/>
            <a:ext cx="8759687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users find safe evacuation routes during disasters.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accept city and disaster type as input from the user.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real-time geographical maps for better understanding.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and show safe, medium, and danger paths using colors.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locate nearby hospitals, police stations, and shelters.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safety alerts and guidance based on the disaster type.</a:t>
            </a:r>
          </a:p>
        </p:txBody>
      </p:sp>
    </p:spTree>
    <p:extLst>
      <p:ext uri="{BB962C8B-B14F-4D97-AF65-F5344CB8AC3E}">
        <p14:creationId xmlns:p14="http://schemas.microsoft.com/office/powerpoint/2010/main" val="1190697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75861"/>
            <a:ext cx="10361727" cy="927651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1603512"/>
            <a:ext cx="90512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disasters, people struggle to find safe evacuation routes quickly.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Roads may be blocked or crowded, making evacuation difficult.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may not know the nearest shelters, hospitals, or police stations.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navigation systems do not consider disaster risk levels.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system is needed to analyze map data and suggest safe evacuation routes.</a:t>
            </a:r>
          </a:p>
        </p:txBody>
      </p:sp>
    </p:spTree>
    <p:extLst>
      <p:ext uri="{BB962C8B-B14F-4D97-AF65-F5344CB8AC3E}">
        <p14:creationId xmlns:p14="http://schemas.microsoft.com/office/powerpoint/2010/main" val="2562709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435" y="550655"/>
            <a:ext cx="10515600" cy="102635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2513" y="1876219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internet connectivity to load maps and data.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depends on map and location data, which may not always be updated.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handle sudden real-time changes like roadblocks or unexpected events.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external APIs, which may have usage limits or restrictions.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 is simplified and not fully real-time.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device and browser access to use the system.</a:t>
            </a:r>
          </a:p>
        </p:txBody>
      </p:sp>
    </p:spTree>
    <p:extLst>
      <p:ext uri="{BB962C8B-B14F-4D97-AF65-F5344CB8AC3E}">
        <p14:creationId xmlns:p14="http://schemas.microsoft.com/office/powerpoint/2010/main" val="4152519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08" y="384314"/>
            <a:ext cx="10515600" cy="99425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3135" y="1640096"/>
            <a:ext cx="940573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traffic and disaster data for accurate routing.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GPS tracking for live navigation and guidance.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AI/ML techniques to predict risks and optimize routes.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better accessibility.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voice alerts and notifications for user convenience.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with emergency services for faster response during disasters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6896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659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1234" y="1640095"/>
            <a:ext cx="10137913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users find safe evacuation routes during disasters.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map-based visualization for better understanding.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color-coded paths (safe, medium, danger).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nearby hospitals, police stations, and shelters.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decision-making and emergency response time.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some limitations, it is a useful and practical solution for disaster management.</a:t>
            </a:r>
          </a:p>
        </p:txBody>
      </p:sp>
    </p:spTree>
    <p:extLst>
      <p:ext uri="{BB962C8B-B14F-4D97-AF65-F5344CB8AC3E}">
        <p14:creationId xmlns:p14="http://schemas.microsoft.com/office/powerpoint/2010/main" val="2446609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921" y="-238538"/>
            <a:ext cx="10515600" cy="132521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287" y="940904"/>
            <a:ext cx="11807687" cy="5817705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X. Shang, H. Zhang, S. </a:t>
            </a:r>
            <a:r>
              <a:rPr lang="en-US" sz="2000" dirty="0" err="1"/>
              <a:t>Celic</a:t>
            </a:r>
            <a:r>
              <a:rPr lang="en-US" sz="2000" dirty="0"/>
              <a:t>, W. Wang, and W. Wang, “Stochastic hierarchical multimodal hub location problem for cargo delivery systems: Formulation and algorithm,” </a:t>
            </a:r>
            <a:r>
              <a:rPr lang="en-US" sz="2000" i="1" dirty="0"/>
              <a:t>IEEE Access</a:t>
            </a:r>
            <a:r>
              <a:rPr lang="en-US" sz="2000" dirty="0"/>
              <a:t>, vol. 8, pp. 53695–53712, 2020, </a:t>
            </a:r>
            <a:r>
              <a:rPr lang="en-US" sz="2000" dirty="0" err="1"/>
              <a:t>doi</a:t>
            </a:r>
            <a:r>
              <a:rPr lang="en-US" sz="2000" dirty="0"/>
              <a:t>: 10.1109/ACCESS.2020.2981669.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L. </a:t>
            </a:r>
            <a:r>
              <a:rPr lang="en-US" sz="2000" dirty="0" err="1"/>
              <a:t>Dwarakanath</a:t>
            </a:r>
            <a:r>
              <a:rPr lang="en-US" sz="2000" dirty="0"/>
              <a:t>, R. A. Rasheed, A. </a:t>
            </a:r>
            <a:r>
              <a:rPr lang="en-US" sz="2000" dirty="0" err="1"/>
              <a:t>Kamsin</a:t>
            </a:r>
            <a:r>
              <a:rPr lang="en-US" sz="2000" dirty="0"/>
              <a:t>, A. </a:t>
            </a:r>
            <a:r>
              <a:rPr lang="en-US" sz="2000" dirty="0" err="1"/>
              <a:t>Anandhan</a:t>
            </a:r>
            <a:r>
              <a:rPr lang="en-US" sz="2000" dirty="0"/>
              <a:t>, and L. </a:t>
            </a:r>
            <a:r>
              <a:rPr lang="en-US" sz="2000" dirty="0" err="1"/>
              <a:t>Shuib</a:t>
            </a:r>
            <a:r>
              <a:rPr lang="en-US" sz="2000" dirty="0"/>
              <a:t>, “Automated machine learning approaches for emergency response and coordination via social media in the aftermath of a disaster: A review,” </a:t>
            </a:r>
            <a:r>
              <a:rPr lang="en-US" sz="2000" i="1" dirty="0"/>
              <a:t>IEEE Access</a:t>
            </a:r>
            <a:r>
              <a:rPr lang="en-US" sz="2000" dirty="0"/>
              <a:t>, vol. 9, pp. 58203–58227, 2021, </a:t>
            </a:r>
            <a:r>
              <a:rPr lang="en-US" sz="2000" dirty="0" err="1"/>
              <a:t>doi</a:t>
            </a:r>
            <a:r>
              <a:rPr lang="en-US" sz="2000" dirty="0"/>
              <a:t>: 10.1109/ACCESS.2021.3074819.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L. </a:t>
            </a:r>
            <a:r>
              <a:rPr lang="en-US" sz="2000" dirty="0" err="1"/>
              <a:t>Dwarakanath</a:t>
            </a:r>
            <a:r>
              <a:rPr lang="en-US" sz="2000" dirty="0"/>
              <a:t>, R. A. Rasheed, A. </a:t>
            </a:r>
            <a:r>
              <a:rPr lang="en-US" sz="2000" dirty="0" err="1"/>
              <a:t>Kamsin</a:t>
            </a:r>
            <a:r>
              <a:rPr lang="en-US" sz="2000" dirty="0"/>
              <a:t>, A. </a:t>
            </a:r>
            <a:r>
              <a:rPr lang="en-US" sz="2000" dirty="0" err="1"/>
              <a:t>Anandhan</a:t>
            </a:r>
            <a:r>
              <a:rPr lang="en-US" sz="2000" dirty="0"/>
              <a:t>, and L. </a:t>
            </a:r>
            <a:r>
              <a:rPr lang="en-US" sz="2000" dirty="0" err="1"/>
              <a:t>Shuib</a:t>
            </a:r>
            <a:r>
              <a:rPr lang="en-US" sz="2000" dirty="0"/>
              <a:t>, “Automated machine learning approaches for emergency response and coordination via social media in the aftermath of a disaster: A review,” </a:t>
            </a:r>
            <a:r>
              <a:rPr lang="en-US" sz="2000" i="1" dirty="0"/>
              <a:t>IEEE Access</a:t>
            </a:r>
            <a:r>
              <a:rPr lang="en-US" sz="2000" dirty="0"/>
              <a:t>, vol. 9, pp. 58203–58227, 2021, </a:t>
            </a:r>
            <a:r>
              <a:rPr lang="en-US" sz="2000" dirty="0" err="1"/>
              <a:t>doi</a:t>
            </a:r>
            <a:r>
              <a:rPr lang="en-US" sz="2000" dirty="0"/>
              <a:t>: 10.1109/ACCESS.2021.3074819.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A. S. </a:t>
            </a:r>
            <a:r>
              <a:rPr lang="en-US" sz="2000" dirty="0" err="1"/>
              <a:t>Prihatmanto</a:t>
            </a:r>
            <a:r>
              <a:rPr lang="en-US" sz="2000" dirty="0"/>
              <a:t>, A. </a:t>
            </a:r>
            <a:r>
              <a:rPr lang="en-US" sz="2000" dirty="0" err="1"/>
              <a:t>Yoganingrum</a:t>
            </a:r>
            <a:r>
              <a:rPr lang="en-US" sz="2000" dirty="0"/>
              <a:t>, A. </a:t>
            </a:r>
            <a:r>
              <a:rPr lang="en-US" sz="2000" dirty="0" err="1"/>
              <a:t>Prasetyadi</a:t>
            </a:r>
            <a:r>
              <a:rPr lang="en-US" sz="2000" dirty="0"/>
              <a:t>, R. </a:t>
            </a:r>
            <a:r>
              <a:rPr lang="en-US" sz="2000" dirty="0" err="1"/>
              <a:t>Sutriadi</a:t>
            </a:r>
            <a:r>
              <a:rPr lang="en-US" sz="2000" dirty="0"/>
              <a:t>, and A. </a:t>
            </a:r>
            <a:r>
              <a:rPr lang="en-US" sz="2000" dirty="0" err="1"/>
              <a:t>Hadiana</a:t>
            </a:r>
            <a:r>
              <a:rPr lang="en-US" sz="2000" dirty="0"/>
              <a:t>, “The digital twin city in enhancing flood evacuation systems: Future opportunities and challenges,” </a:t>
            </a:r>
            <a:r>
              <a:rPr lang="en-US" sz="2000" i="1" dirty="0"/>
              <a:t>IEEE Access</a:t>
            </a:r>
            <a:r>
              <a:rPr lang="en-US" sz="2000" dirty="0"/>
              <a:t>, vol. 13, pp. </a:t>
            </a:r>
            <a:r>
              <a:rPr lang="en-US" sz="2000" dirty="0" err="1"/>
              <a:t>xxxx</a:t>
            </a:r>
            <a:r>
              <a:rPr lang="en-US" sz="2000" dirty="0"/>
              <a:t>–</a:t>
            </a:r>
            <a:r>
              <a:rPr lang="en-US" sz="2000" dirty="0" err="1"/>
              <a:t>xxxx</a:t>
            </a:r>
            <a:r>
              <a:rPr lang="en-US" sz="2000" dirty="0"/>
              <a:t>, 2025, </a:t>
            </a:r>
            <a:r>
              <a:rPr lang="en-US" sz="2000" dirty="0" err="1"/>
              <a:t>doi</a:t>
            </a:r>
            <a:r>
              <a:rPr lang="en-US" sz="2000" dirty="0"/>
              <a:t>: 10.1109/ACCESS.2025.3539346.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W. Zhou, M. Huang, S. Liu, Q. You, and F. </a:t>
            </a:r>
            <a:r>
              <a:rPr lang="en-US" sz="2000" dirty="0" err="1"/>
              <a:t>Meng</a:t>
            </a:r>
            <a:r>
              <a:rPr lang="en-US" sz="2000" dirty="0"/>
              <a:t>, “Research on the construction and application of earthquake emergency information knowledge graph based on large language models,” </a:t>
            </a:r>
            <a:r>
              <a:rPr lang="en-US" sz="2000" i="1" dirty="0"/>
              <a:t>IEEE Access</a:t>
            </a:r>
            <a:r>
              <a:rPr lang="en-US" sz="2000" dirty="0"/>
              <a:t>, vol. 13, pp. </a:t>
            </a:r>
            <a:r>
              <a:rPr lang="en-US" sz="2000" dirty="0" err="1"/>
              <a:t>xxxx</a:t>
            </a:r>
            <a:r>
              <a:rPr lang="en-US" sz="2000" dirty="0"/>
              <a:t>–</a:t>
            </a:r>
            <a:r>
              <a:rPr lang="en-US" sz="2000" dirty="0" err="1"/>
              <a:t>xxxx</a:t>
            </a:r>
            <a:r>
              <a:rPr lang="en-US" sz="2000" dirty="0"/>
              <a:t>, 2025, </a:t>
            </a:r>
            <a:r>
              <a:rPr lang="en-US" sz="2000" dirty="0" err="1"/>
              <a:t>doi</a:t>
            </a:r>
            <a:r>
              <a:rPr lang="en-US" sz="2000" dirty="0"/>
              <a:t>: 10.1109/ACCESS.2025.3586370.</a:t>
            </a:r>
          </a:p>
        </p:txBody>
      </p:sp>
    </p:spTree>
    <p:extLst>
      <p:ext uri="{BB962C8B-B14F-4D97-AF65-F5344CB8AC3E}">
        <p14:creationId xmlns:p14="http://schemas.microsoft.com/office/powerpoint/2010/main" val="1110875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0591" y="2756452"/>
            <a:ext cx="9607825" cy="3284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40268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1285</TotalTime>
  <Words>1087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Arial</vt:lpstr>
      <vt:lpstr>Calibri</vt:lpstr>
      <vt:lpstr>Calibri Light</vt:lpstr>
      <vt:lpstr>Times New Roman</vt:lpstr>
      <vt:lpstr>Office Theme</vt:lpstr>
      <vt:lpstr>Adaptive Graph-Based Disaster Evacuation Route Optimization for Real-Time Emergency Response</vt:lpstr>
      <vt:lpstr>ABSTRACT</vt:lpstr>
      <vt:lpstr>INTRODUCTION</vt:lpstr>
      <vt:lpstr>LITERATURE REVIEW</vt:lpstr>
      <vt:lpstr>OBJECTIVE</vt:lpstr>
      <vt:lpstr>PROBLEM STATEMENT</vt:lpstr>
      <vt:lpstr>CHALLENGES &amp; LIMITATIONS</vt:lpstr>
      <vt:lpstr>FUTURE SCOPE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DIASTER EVACUATION ROUTE OPTIMIZER USING GRAPH ALOGRITHM</dc:title>
  <dc:creator>ADMIN</dc:creator>
  <cp:lastModifiedBy>rohinikavitha84@outlook.com</cp:lastModifiedBy>
  <cp:revision>64</cp:revision>
  <dcterms:created xsi:type="dcterms:W3CDTF">2026-03-11T14:41:00Z</dcterms:created>
  <dcterms:modified xsi:type="dcterms:W3CDTF">2026-08-03T05:59:47Z</dcterms:modified>
</cp:coreProperties>
</file>